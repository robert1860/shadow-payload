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4"/>
  </p:notesMasterIdLst>
  <p:handoutMasterIdLst>
    <p:handoutMasterId r:id="rId15"/>
  </p:handoutMasterIdLst>
  <p:sldIdLst>
    <p:sldId id="277" r:id="rId4"/>
    <p:sldId id="399" r:id="rId5"/>
    <p:sldId id="401" r:id="rId6"/>
    <p:sldId id="409" r:id="rId7"/>
    <p:sldId id="410" r:id="rId8"/>
    <p:sldId id="420" r:id="rId9"/>
    <p:sldId id="403" r:id="rId10"/>
    <p:sldId id="417" r:id="rId11"/>
    <p:sldId id="421" r:id="rId12"/>
    <p:sldId id="41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8" autoAdjust="0"/>
    <p:restoredTop sz="94660" autoAdjust="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79076" y="1653545"/>
            <a:ext cx="6829425" cy="2568685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CSE(INFORMATION SECURITY)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847709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200" dirty="0" err="1"/>
              <a:t>ShadowPayloads</a:t>
            </a:r>
            <a:r>
              <a:rPr lang="en-US" sz="3200" dirty="0"/>
              <a:t>: Obfuscation Techniques and Evasion Strategies in Malware</a:t>
            </a:r>
            <a:endParaRPr lang="en-US" sz="3200" dirty="0">
              <a:latin typeface="Raleway ExtraBold" pitchFamily="34" charset="-52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88956" y="4663440"/>
            <a:ext cx="28658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US" sz="2000" dirty="0"/>
              <a:t>ROBERT (22BIS50001)</a:t>
            </a:r>
          </a:p>
          <a:p>
            <a:r>
              <a:rPr lang="en-US" sz="2000" dirty="0"/>
              <a:t>Vartika  (</a:t>
            </a:r>
            <a:r>
              <a:rPr lang="en-IN" sz="2000" dirty="0"/>
              <a:t>22BIS70108)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737221" y="4808177"/>
            <a:ext cx="29713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IN" sz="2000" dirty="0"/>
              <a:t>SHEETAL LAROIYA 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</a:t>
            </a:r>
          </a:p>
          <a:p>
            <a:r>
              <a:rPr lang="en-US" dirty="0">
                <a:latin typeface="Times New Roman"/>
                <a:cs typeface="Times New Roman"/>
              </a:rPr>
              <a:t>Objective </a:t>
            </a:r>
          </a:p>
          <a:p>
            <a:r>
              <a:rPr lang="en-US" dirty="0">
                <a:latin typeface="Times New Roman"/>
                <a:cs typeface="Times New Roman"/>
              </a:rPr>
              <a:t>Methodology</a:t>
            </a:r>
          </a:p>
          <a:p>
            <a:r>
              <a:rPr lang="en-US" dirty="0">
                <a:latin typeface="Times New Roman"/>
                <a:cs typeface="Times New Roman"/>
              </a:rPr>
              <a:t>Results and Outcome</a:t>
            </a:r>
          </a:p>
          <a:p>
            <a:r>
              <a:rPr lang="en-US" dirty="0">
                <a:latin typeface="Times New Roman"/>
                <a:cs typeface="Times New Roman"/>
              </a:rPr>
              <a:t>Conclusion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4B02395-4A9B-1B05-818B-74AACD87E2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7120" y="1513631"/>
            <a:ext cx="915416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malware often hides its malicious code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obfuscation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detection harder.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Obfuscation can involve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encoding, compression, packing, or control-flow tricks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tools like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static scanners,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VirusTotal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brub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Suite collaborator may fail to reveal the hidden parts.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how obfuscation works is important for building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stronger analysis methods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3CB5A-7802-33A0-8E86-9C90AB034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283B3-2B58-8C1F-DE43-367B4CA8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FAD1D-059C-7B68-0F7B-DD5A034E1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E394C-0F63-A722-4B2B-C80873495D7D}"/>
              </a:ext>
            </a:extLst>
          </p:cNvPr>
          <p:cNvSpPr txBox="1"/>
          <p:nvPr/>
        </p:nvSpPr>
        <p:spPr>
          <a:xfrm>
            <a:off x="653143" y="1914623"/>
            <a:ext cx="638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E168CB-B028-106E-3A13-3BB544424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079" y="1690688"/>
            <a:ext cx="10700657" cy="5203408"/>
          </a:xfrm>
        </p:spPr>
        <p:txBody>
          <a:bodyPr>
            <a:noAutofit/>
          </a:bodyPr>
          <a:lstStyle/>
          <a:p>
            <a:r>
              <a:rPr lang="en-US" sz="2400" dirty="0"/>
              <a:t>To </a:t>
            </a:r>
            <a:r>
              <a:rPr lang="en-US" sz="2400" b="1" dirty="0"/>
              <a:t>study and simulate common obfuscation techniques</a:t>
            </a:r>
            <a:r>
              <a:rPr lang="en-US" sz="2400" dirty="0"/>
              <a:t> (e.g., Base64, XOR, compression, splitting).</a:t>
            </a:r>
          </a:p>
          <a:p>
            <a:r>
              <a:rPr lang="en-US" sz="2400" dirty="0"/>
              <a:t>To analyze their effect on </a:t>
            </a:r>
            <a:r>
              <a:rPr lang="en-US" sz="2400" b="1" dirty="0"/>
              <a:t>static and dynamic analysis tools</a:t>
            </a:r>
            <a:r>
              <a:rPr lang="en-US" sz="2400" dirty="0"/>
              <a:t> in a controlled, harmless environment.</a:t>
            </a:r>
          </a:p>
          <a:p>
            <a:r>
              <a:rPr lang="en-US" sz="2400" dirty="0"/>
              <a:t>To measure </a:t>
            </a:r>
            <a:r>
              <a:rPr lang="en-US" sz="2400" b="1" dirty="0"/>
              <a:t>detectability, decoding effort, and analyst time</a:t>
            </a:r>
            <a:r>
              <a:rPr lang="en-US" sz="2400" dirty="0"/>
              <a:t> across different techniques.</a:t>
            </a:r>
          </a:p>
          <a:p>
            <a:r>
              <a:rPr lang="en-US" sz="2400" dirty="0"/>
              <a:t>To propose </a:t>
            </a:r>
            <a:r>
              <a:rPr lang="en-US" sz="2400" b="1" dirty="0"/>
              <a:t>strategies and recommendations</a:t>
            </a:r>
            <a:r>
              <a:rPr lang="en-US" sz="2400" dirty="0"/>
              <a:t> for improving visibility into hidden payloads.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9113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6EAA9-8634-B53F-83E3-08BF1A985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07A0-96CE-1C6B-7D23-73D6D9C2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355"/>
            <a:ext cx="10515600" cy="1325563"/>
          </a:xfrm>
        </p:spPr>
        <p:txBody>
          <a:bodyPr/>
          <a:lstStyle/>
          <a:p>
            <a:r>
              <a:rPr lang="en-US" b="1" dirty="0"/>
              <a:t>Methodology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2AF5E-2899-887D-9932-41FE4B76E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873"/>
            <a:ext cx="10515600" cy="5108886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sz="3200" b="1" dirty="0"/>
              <a:t>Objective: </a:t>
            </a:r>
            <a:endParaRPr lang="en-IN" sz="3000" b="1" i="0" dirty="0">
              <a:effectLst/>
            </a:endParaRPr>
          </a:p>
          <a:p>
            <a:pPr lvl="1"/>
            <a:r>
              <a:rPr lang="en-US" sz="2800" dirty="0"/>
              <a:t>To safely analyze and classify obfuscated PDF-based malware (Trojan type).</a:t>
            </a:r>
          </a:p>
          <a:p>
            <a:pPr lvl="1"/>
            <a:r>
              <a:rPr lang="en-US" sz="2800" dirty="0"/>
              <a:t>Defensive, research-only methodology ensuring zero weaponization.</a:t>
            </a:r>
          </a:p>
          <a:p>
            <a:pPr lvl="1"/>
            <a:endParaRPr lang="en-IN" sz="2800" dirty="0"/>
          </a:p>
          <a:p>
            <a:pPr lvl="1"/>
            <a:endParaRPr lang="en-IN" sz="2600" b="0" i="0" dirty="0">
              <a:effectLst/>
            </a:endParaRPr>
          </a:p>
          <a:p>
            <a:pPr marL="457200" lvl="1" indent="0">
              <a:buNone/>
            </a:pPr>
            <a:endParaRPr lang="en-IN" dirty="0">
              <a:latin typeface="ui-sans-serif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505CE-8E32-F2D0-9238-A7EE3487B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33C48028-95A6-47F2-28BC-A05CC2291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347" y="3637968"/>
            <a:ext cx="6499391" cy="15951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BA1DF2-4495-C70C-DAA9-0AC653AC1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947" y="4919869"/>
            <a:ext cx="9068266" cy="177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18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63804-856C-40A3-E1C8-2A147C032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 used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81BE5-B6D2-C22F-FF84-DD059729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8DE699-2F69-EDE4-2AD5-6A96D2D42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41" y="3969860"/>
            <a:ext cx="4897119" cy="2266315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A642CFF-AC76-865B-056E-4D077B9C7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4665"/>
            <a:ext cx="10515600" cy="4351338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IN" sz="3200" b="1" dirty="0"/>
              <a:t>Approach:</a:t>
            </a:r>
            <a:endParaRPr lang="en-IN" sz="3000" b="1" dirty="0"/>
          </a:p>
          <a:p>
            <a:pPr marL="457200" lvl="1" indent="0">
              <a:buNone/>
            </a:pPr>
            <a:r>
              <a:rPr lang="en-US" dirty="0"/>
              <a:t>Defensive, research-only methodology ensuring zero weaponization.</a:t>
            </a:r>
            <a:endParaRPr lang="en-IN" dirty="0"/>
          </a:p>
          <a:p>
            <a:pPr marL="457200" lvl="1" indent="0">
              <a:buNone/>
            </a:pPr>
            <a:r>
              <a:rPr lang="en-US" dirty="0"/>
              <a:t>Analysis conducted in </a:t>
            </a:r>
            <a:r>
              <a:rPr lang="en-US" b="1" dirty="0"/>
              <a:t>isolated, sandboxed environments</a:t>
            </a:r>
            <a:r>
              <a:rPr lang="en-US" dirty="0"/>
              <a:t> under controlled settings.</a:t>
            </a:r>
          </a:p>
          <a:p>
            <a:pPr marL="457200" lvl="1" indent="0">
              <a:buNone/>
            </a:pPr>
            <a:r>
              <a:rPr lang="en-US" dirty="0"/>
              <a:t>All payloads handled ethically — no execution on production systems.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8184AF-339E-918F-4045-91920FCE8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420" y="3969860"/>
            <a:ext cx="5184140" cy="226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050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6355"/>
            <a:ext cx="10515600" cy="1325563"/>
          </a:xfrm>
        </p:spPr>
        <p:txBody>
          <a:bodyPr/>
          <a:lstStyle/>
          <a:p>
            <a:r>
              <a:rPr lang="en-US" b="1" dirty="0"/>
              <a:t>Methodology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838200" y="1158239"/>
            <a:ext cx="9179560" cy="27363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IN" dirty="0">
              <a:latin typeface="ui-sans-serif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548E18F-BDE1-8986-A2D5-52AC3A571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41571"/>
            <a:ext cx="10363200" cy="566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b="1" dirty="0"/>
              <a:t>Dynamic / </a:t>
            </a:r>
            <a:r>
              <a:rPr lang="en-IN" sz="2800" b="1" dirty="0" err="1"/>
              <a:t>Behavioral</a:t>
            </a:r>
            <a:r>
              <a:rPr lang="en-IN" sz="2800" b="1" dirty="0"/>
              <a:t> analysis: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Instrumented sandbox environments (air-gapped VMs) with monitoring: API-call logging, filesystem monitoring, process tracing, and controlled network sink. Example frameworks used: an internal instrumented reader harness or community sandboxes configured for research (e.g., Cuckoo-like orchestration).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simulators / controlled sinks to observe connection attempts without contacting external infrastructure.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 telemetry collectors: process/event logs, file system watchers, and memory snapshot tools (used only for high-level behavioral metrics; raw memory dumps were not published).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800" b="1" dirty="0"/>
              <a:t>Correlation &amp; external services:</a:t>
            </a:r>
          </a:p>
          <a:p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 err="1"/>
              <a:t>VirusTotal</a:t>
            </a:r>
            <a:r>
              <a:rPr lang="en-US" sz="2000" dirty="0"/>
              <a:t> and other multi-engine correlation platforms for detection ratios and classification tags (screenshots and aggregate counts only; no raw artifact sharing).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Threat intelligence feeds for contextual mapping (only high-level attribution/label data retained).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82B511-1BF2-5AED-D7F5-005CEAFE8240}"/>
              </a:ext>
            </a:extLst>
          </p:cNvPr>
          <p:cNvSpPr txBox="1">
            <a:spLocks/>
          </p:cNvSpPr>
          <p:nvPr/>
        </p:nvSpPr>
        <p:spPr>
          <a:xfrm flipV="1">
            <a:off x="990600" y="1310639"/>
            <a:ext cx="9179560" cy="27363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IN" dirty="0"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30608A0-A4EF-87FE-C145-6C68C7174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433" y="0"/>
            <a:ext cx="10515600" cy="1325563"/>
          </a:xfrm>
        </p:spPr>
        <p:txBody>
          <a:bodyPr/>
          <a:lstStyle/>
          <a:p>
            <a:r>
              <a:rPr lang="en-IN" b="1" dirty="0"/>
              <a:t>Results and Outcome</a:t>
            </a:r>
            <a:endParaRPr lang="en-I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84B4F-9BC8-2871-788C-1F6E368B1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F9C5F-F581-0FFD-1D6D-38F1D7AF1D4F}"/>
              </a:ext>
            </a:extLst>
          </p:cNvPr>
          <p:cNvSpPr txBox="1"/>
          <p:nvPr/>
        </p:nvSpPr>
        <p:spPr>
          <a:xfrm>
            <a:off x="653143" y="1914623"/>
            <a:ext cx="638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4395F99-54D1-1366-DCB1-2D4820E96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78000" y="1325563"/>
            <a:ext cx="9154160" cy="2921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7FF1EF-AA93-E2B6-FEB9-92313BEFC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773" y="4246880"/>
            <a:ext cx="7080614" cy="25835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4585A-37B5-0EE5-C8F2-15C72851B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 and Outputs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68C0E5-4608-02AC-4A7B-B9674324C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909" y="1899336"/>
            <a:ext cx="8414182" cy="420391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77B9E-1091-D0CF-8C73-C30E7D8C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92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10947" y="2397968"/>
            <a:ext cx="4366726" cy="17261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5400" dirty="0">
                <a:latin typeface="Monotype Corsiva" panose="03010101010201010101" pitchFamily="66" charset="0"/>
              </a:rPr>
              <a:t>                          </a:t>
            </a:r>
            <a:r>
              <a:rPr lang="en-US" sz="9600" dirty="0">
                <a:latin typeface="Monotype Corsiva" panose="03010101010201010101" pitchFamily="66" charset="0"/>
              </a:rPr>
              <a:t>Thankyou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6723</TotalTime>
  <Words>411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Arial</vt:lpstr>
      <vt:lpstr>Arial Unicode MS</vt:lpstr>
      <vt:lpstr>Calibri</vt:lpstr>
      <vt:lpstr>Calibri Light</vt:lpstr>
      <vt:lpstr>Casper</vt:lpstr>
      <vt:lpstr>Monotype Corsiva</vt:lpstr>
      <vt:lpstr>Raleway ExtraBold</vt:lpstr>
      <vt:lpstr>Times New Roman</vt:lpstr>
      <vt:lpstr>ui-sans-serif</vt:lpstr>
      <vt:lpstr>Wingdings</vt:lpstr>
      <vt:lpstr>1_Office Theme</vt:lpstr>
      <vt:lpstr>2_Office Theme</vt:lpstr>
      <vt:lpstr>Contents Slide Master</vt:lpstr>
      <vt:lpstr>PowerPoint Presentation</vt:lpstr>
      <vt:lpstr>Outline</vt:lpstr>
      <vt:lpstr>Introduction:</vt:lpstr>
      <vt:lpstr>Objective </vt:lpstr>
      <vt:lpstr>Methodology used</vt:lpstr>
      <vt:lpstr>Methodology used</vt:lpstr>
      <vt:lpstr>Methodology used</vt:lpstr>
      <vt:lpstr>Results and Outcome</vt:lpstr>
      <vt:lpstr>Results and Outputs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Robert Lourembam</cp:lastModifiedBy>
  <cp:revision>500</cp:revision>
  <dcterms:created xsi:type="dcterms:W3CDTF">2019-01-09T10:33:58Z</dcterms:created>
  <dcterms:modified xsi:type="dcterms:W3CDTF">2025-10-31T14:34:56Z</dcterms:modified>
</cp:coreProperties>
</file>